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61" r:id="rId5"/>
    <p:sldId id="272" r:id="rId6"/>
    <p:sldId id="271" r:id="rId7"/>
    <p:sldId id="262" r:id="rId8"/>
    <p:sldId id="263" r:id="rId9"/>
    <p:sldId id="264" r:id="rId10"/>
    <p:sldId id="265" r:id="rId11"/>
    <p:sldId id="266" r:id="rId12"/>
    <p:sldId id="267" r:id="rId13"/>
    <p:sldId id="270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179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9314" y="596019"/>
            <a:ext cx="7510506" cy="3213982"/>
          </a:xfrm>
        </p:spPr>
        <p:txBody>
          <a:bodyPr anchor="b">
            <a:normAutofit/>
          </a:bodyPr>
          <a:lstStyle>
            <a:lvl1pPr algn="ctr">
              <a:defRPr sz="40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9314" y="3886200"/>
            <a:ext cx="7510506" cy="2219108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0" scaled="1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9296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64008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9314" y="3270698"/>
            <a:ext cx="7510506" cy="1823305"/>
          </a:xfrm>
        </p:spPr>
        <p:txBody>
          <a:bodyPr anchor="b">
            <a:normAutofit/>
          </a:bodyPr>
          <a:lstStyle>
            <a:lvl1pPr algn="r">
              <a:defRPr sz="2800" b="0" cap="all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9314" y="5103810"/>
            <a:ext cx="7510506" cy="998250"/>
          </a:xfrm>
        </p:spPr>
        <p:txBody>
          <a:bodyPr anchor="t">
            <a:normAutofit/>
          </a:bodyPr>
          <a:lstStyle>
            <a:lvl1pPr marL="0" indent="0" algn="r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82859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347" y="2060898"/>
            <a:ext cx="3685073" cy="4031331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100"/>
            </a:lvl6pPr>
            <a:lvl7pPr>
              <a:defRPr sz="1100"/>
            </a:lvl7pPr>
            <a:lvl8pPr>
              <a:defRPr sz="1100"/>
            </a:lvl8pPr>
            <a:lvl9pPr>
              <a:defRPr sz="11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0580" y="2060898"/>
            <a:ext cx="3689239" cy="4031330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100"/>
            </a:lvl6pPr>
            <a:lvl7pPr>
              <a:defRPr sz="1100"/>
            </a:lvl7pPr>
            <a:lvl8pPr>
              <a:defRPr sz="1100"/>
            </a:lvl8pPr>
            <a:lvl9pPr>
              <a:defRPr sz="11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882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6306" y="2060898"/>
            <a:ext cx="3397113" cy="733596"/>
          </a:xfrm>
        </p:spPr>
        <p:txBody>
          <a:bodyPr anchor="b">
            <a:noAutofit/>
          </a:bodyPr>
          <a:lstStyle>
            <a:lvl1pPr marL="0" indent="0">
              <a:buNone/>
              <a:defRPr sz="2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8347" y="2786027"/>
            <a:ext cx="3685073" cy="3316033"/>
          </a:xfrm>
        </p:spPr>
        <p:txBody>
          <a:bodyPr anchor="t"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100"/>
            </a:lvl6pPr>
            <a:lvl7pPr>
              <a:defRPr sz="1100"/>
            </a:lvl7pPr>
            <a:lvl8pPr>
              <a:defRPr sz="1100"/>
            </a:lvl8pPr>
            <a:lvl9pPr>
              <a:defRPr sz="11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910150" y="2060898"/>
            <a:ext cx="3419670" cy="725129"/>
          </a:xfrm>
        </p:spPr>
        <p:txBody>
          <a:bodyPr anchor="b">
            <a:noAutofit/>
          </a:bodyPr>
          <a:lstStyle>
            <a:lvl1pPr marL="0" indent="0">
              <a:buNone/>
              <a:defRPr sz="2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65" y="2786027"/>
            <a:ext cx="3701520" cy="3316033"/>
          </a:xfrm>
        </p:spPr>
        <p:txBody>
          <a:bodyPr anchor="t"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100"/>
            </a:lvl6pPr>
            <a:lvl7pPr>
              <a:defRPr sz="1100"/>
            </a:lvl7pPr>
            <a:lvl8pPr>
              <a:defRPr sz="1100"/>
            </a:lvl8pPr>
            <a:lvl9pPr>
              <a:defRPr sz="11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0202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07853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34836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8347" y="1754928"/>
            <a:ext cx="2729523" cy="1371600"/>
          </a:xfrm>
        </p:spPr>
        <p:txBody>
          <a:bodyPr anchor="b">
            <a:normAutofit/>
          </a:bodyPr>
          <a:lstStyle>
            <a:lvl1pPr algn="l">
              <a:defRPr sz="22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28856" y="596018"/>
            <a:ext cx="4500964" cy="5506041"/>
          </a:xfrm>
        </p:spPr>
        <p:txBody>
          <a:bodyPr anchor="ctr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  <a:lvl6pPr>
              <a:defRPr sz="1100"/>
            </a:lvl6pPr>
            <a:lvl7pPr>
              <a:defRPr sz="1100"/>
            </a:lvl7pPr>
            <a:lvl8pPr>
              <a:defRPr sz="1100"/>
            </a:lvl8pPr>
            <a:lvl9pPr>
              <a:defRPr sz="11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8347" y="3126528"/>
            <a:ext cx="2729523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8859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8347" y="1898269"/>
            <a:ext cx="4423803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15442" y="-18288"/>
            <a:ext cx="2500062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7318" y="3269869"/>
            <a:ext cx="4423803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23649" y="6181344"/>
            <a:ext cx="718502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18348" y="6181344"/>
            <a:ext cx="37053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24262" y="6181344"/>
            <a:ext cx="305186" cy="329250"/>
          </a:xfrm>
        </p:spPr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99143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677" y="4377485"/>
            <a:ext cx="7413007" cy="907505"/>
          </a:xfrm>
        </p:spPr>
        <p:txBody>
          <a:bodyPr anchor="b">
            <a:normAutofit/>
          </a:bodyPr>
          <a:lstStyle>
            <a:lvl1pPr algn="l">
              <a:defRPr sz="20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7678" y="996188"/>
            <a:ext cx="7301427" cy="298112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7677" y="5284990"/>
            <a:ext cx="7413007" cy="81707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7678" y="6181344"/>
            <a:ext cx="5337278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80928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8347" y="596018"/>
            <a:ext cx="7511474" cy="3137782"/>
          </a:xfrm>
        </p:spPr>
        <p:txBody>
          <a:bodyPr anchor="ctr">
            <a:normAutofit/>
          </a:bodyPr>
          <a:lstStyle>
            <a:lvl1pPr algn="l">
              <a:defRPr sz="2800" b="0" cap="all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8347" y="4343400"/>
            <a:ext cx="7511474" cy="1758660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1827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583818" y="86027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88822" y="2985923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942" y="596018"/>
            <a:ext cx="6974115" cy="3044079"/>
          </a:xfrm>
        </p:spPr>
        <p:txBody>
          <a:bodyPr anchor="ctr">
            <a:normAutofit/>
          </a:bodyPr>
          <a:lstStyle>
            <a:lvl1pPr algn="l">
              <a:defRPr sz="28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256436" y="3650606"/>
            <a:ext cx="6631128" cy="381000"/>
          </a:xfrm>
        </p:spPr>
        <p:txBody>
          <a:bodyPr anchor="ctr">
            <a:normAutofit/>
          </a:bodyPr>
          <a:lstStyle>
            <a:lvl1pPr marL="0" indent="0">
              <a:buFontTx/>
              <a:buNone/>
              <a:defRPr sz="14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8347" y="4641206"/>
            <a:ext cx="7511473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0" scaled="1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50102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8347" y="3603566"/>
            <a:ext cx="7512338" cy="1468800"/>
          </a:xfrm>
        </p:spPr>
        <p:txBody>
          <a:bodyPr anchor="b">
            <a:normAutofit/>
          </a:bodyPr>
          <a:lstStyle>
            <a:lvl1pPr algn="l">
              <a:defRPr sz="2800" b="0" cap="all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1015" y="5072366"/>
            <a:ext cx="7512339" cy="102969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24371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la 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/>
          <p:cNvSpPr txBox="1"/>
          <p:nvPr/>
        </p:nvSpPr>
        <p:spPr>
          <a:xfrm>
            <a:off x="583818" y="753851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87556" y="287949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942" y="596018"/>
            <a:ext cx="6974115" cy="2844369"/>
          </a:xfrm>
        </p:spPr>
        <p:txBody>
          <a:bodyPr anchor="ctr">
            <a:normAutofit/>
          </a:bodyPr>
          <a:lstStyle>
            <a:lvl1pPr algn="l">
              <a:defRPr sz="28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818347" y="3886200"/>
            <a:ext cx="7512338" cy="105366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0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0" scaled="1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8347" y="4939862"/>
            <a:ext cx="7512338" cy="1162198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6789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8346" y="596018"/>
            <a:ext cx="7511473" cy="2756783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2800" b="0" dirty="0"/>
            </a:lvl1pPr>
          </a:lstStyle>
          <a:p>
            <a:pPr marL="0" lvl="0"/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818346" y="3682941"/>
            <a:ext cx="7511473" cy="1049283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8347" y="4732224"/>
            <a:ext cx="7511472" cy="1369836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59901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818347" y="596018"/>
            <a:ext cx="7511473" cy="131248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685604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51708" y="596018"/>
            <a:ext cx="1778112" cy="5506042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8347" y="596018"/>
            <a:ext cx="5624137" cy="5506042"/>
          </a:xfrm>
        </p:spPr>
        <p:txBody>
          <a:bodyPr vert="eaVert" anchor="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39898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8347" y="596018"/>
            <a:ext cx="7511473" cy="13124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8348" y="2060898"/>
            <a:ext cx="7511472" cy="40411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551708" y="6178260"/>
            <a:ext cx="12874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5BCAD085-E8A6-8845-BD4E-CB4CCA059FC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18347" y="6178260"/>
            <a:ext cx="56241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917202" y="6178260"/>
            <a:ext cx="41348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96742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40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3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40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3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40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3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40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3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40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3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40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30000"/>
        <a:buFont typeface="Arial"/>
        <a:buChar char="•"/>
        <a:defRPr sz="11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40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30000"/>
        <a:buFont typeface="Arial"/>
        <a:buChar char="•"/>
        <a:defRPr sz="11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40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30000"/>
        <a:buFont typeface="Arial"/>
        <a:buChar char="•"/>
        <a:defRPr sz="11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40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1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40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Predicción de Satisfacción de Pasajeros en Aerolíneas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Este proyecto presenta el desarrollo de un modelo de Machine </a:t>
            </a:r>
            <a:r>
              <a:rPr lang="es-ES" dirty="0" err="1"/>
              <a:t>Learning</a:t>
            </a:r>
            <a:r>
              <a:rPr lang="es-ES" dirty="0"/>
              <a:t> supervisado orientado a predecir la satisfacción de pasajeros en aerolíneas.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Objetivo del Proyecto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4180" y="1814010"/>
            <a:ext cx="7511472" cy="4041162"/>
          </a:xfrm>
        </p:spPr>
        <p:txBody>
          <a:bodyPr/>
          <a:lstStyle/>
          <a:p>
            <a:r>
              <a:rPr lang="es-ES" dirty="0"/>
              <a:t>El objetivo principal es construir un modelo capaz de anticipar si un pasajero estará satisfecho con su experiencia de vuelo. Para ello, se comparan distintos enfoques y se optimiza el rendimiento mediante técnicas de ajuste de </a:t>
            </a:r>
            <a:r>
              <a:rPr lang="es-ES" dirty="0" err="1"/>
              <a:t>hiperparámetros</a:t>
            </a:r>
            <a:r>
              <a:rPr lang="es-ES" dirty="0"/>
              <a:t>.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Carga y Exploración de Datos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348" y="2060898"/>
            <a:ext cx="7511472" cy="3873558"/>
          </a:xfrm>
        </p:spPr>
        <p:txBody>
          <a:bodyPr/>
          <a:lstStyle/>
          <a:p>
            <a:r>
              <a:rPr dirty="0"/>
              <a:t>Lectura de datasets: train y test</a:t>
            </a:r>
            <a:endParaRPr lang="es-ES" dirty="0"/>
          </a:p>
          <a:p>
            <a:pPr lvl="1"/>
            <a:r>
              <a:rPr lang="es-ES" dirty="0"/>
              <a:t>Limpieza y tratamiento de variables de ambos </a:t>
            </a:r>
            <a:r>
              <a:rPr lang="es-ES" dirty="0" err="1"/>
              <a:t>datasets</a:t>
            </a:r>
            <a:endParaRPr lang="es-ES" dirty="0"/>
          </a:p>
          <a:p>
            <a:r>
              <a:rPr lang="es-ES" dirty="0"/>
              <a:t>Distribución de la variable objetivo</a:t>
            </a:r>
          </a:p>
          <a:p>
            <a:pPr lvl="1"/>
            <a:r>
              <a:rPr lang="es-ES" dirty="0"/>
              <a:t>Mapa de calor de correlaciones</a:t>
            </a:r>
          </a:p>
          <a:p>
            <a:pPr lvl="1"/>
            <a:r>
              <a:rPr lang="es-ES" dirty="0"/>
              <a:t>Identificación de variables relevantes</a:t>
            </a:r>
          </a:p>
          <a:p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División del 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Train/Test Split (80% / 20%)</a:t>
            </a:r>
          </a:p>
          <a:p>
            <a:pPr lvl="1"/>
            <a:r>
              <a:rPr dirty="0" err="1"/>
              <a:t>Stratificación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variable </a:t>
            </a:r>
            <a:r>
              <a:rPr dirty="0" err="1"/>
              <a:t>objetivo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862DDC-4C01-8B08-B811-DB0BDCA69F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Pipeline de Procesamiento de Datos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E6034CB-D7B0-6DD4-76CF-9B1D5A8919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Implementación de </a:t>
            </a:r>
            <a:r>
              <a:rPr lang="es-ES" dirty="0" err="1"/>
              <a:t>ColumnTransformer</a:t>
            </a:r>
            <a:r>
              <a:rPr lang="es-ES" dirty="0"/>
              <a:t>: Tratamiento diferenciado por tipo de variable en un solo flujo atómico.</a:t>
            </a:r>
          </a:p>
          <a:p>
            <a:r>
              <a:rPr lang="es-ES" dirty="0"/>
              <a:t>Bloque Numérico:</a:t>
            </a:r>
          </a:p>
          <a:p>
            <a:pPr lvl="1"/>
            <a:r>
              <a:rPr lang="es-ES" dirty="0"/>
              <a:t>Imputación: Manejo de valores nulos en </a:t>
            </a:r>
            <a:r>
              <a:rPr lang="es-ES" dirty="0" err="1"/>
              <a:t>Arrival</a:t>
            </a:r>
            <a:r>
              <a:rPr lang="es-ES" dirty="0"/>
              <a:t> </a:t>
            </a:r>
            <a:r>
              <a:rPr lang="es-ES" dirty="0" err="1"/>
              <a:t>Delay</a:t>
            </a:r>
            <a:r>
              <a:rPr lang="es-ES" dirty="0"/>
              <a:t> utilizando la mediana para mitigar el impacto de </a:t>
            </a:r>
            <a:r>
              <a:rPr lang="es-ES" dirty="0" err="1"/>
              <a:t>outliers</a:t>
            </a:r>
            <a:r>
              <a:rPr lang="es-ES" dirty="0"/>
              <a:t>.</a:t>
            </a:r>
          </a:p>
          <a:p>
            <a:pPr lvl="1"/>
            <a:r>
              <a:rPr lang="es-ES" dirty="0"/>
              <a:t>Escalado: Uso de </a:t>
            </a:r>
            <a:r>
              <a:rPr lang="es-ES" dirty="0" err="1"/>
              <a:t>StandardScaler</a:t>
            </a:r>
            <a:r>
              <a:rPr lang="es-ES" dirty="0"/>
              <a:t> para normalizar magnitudes (Edad, Distancia) y equilibrar el peso de las </a:t>
            </a:r>
            <a:r>
              <a:rPr lang="es-ES" dirty="0" err="1"/>
              <a:t>features</a:t>
            </a:r>
            <a:r>
              <a:rPr lang="es-ES" dirty="0"/>
              <a:t>.</a:t>
            </a:r>
          </a:p>
          <a:p>
            <a:r>
              <a:rPr lang="es-ES" dirty="0"/>
              <a:t>Bloque </a:t>
            </a:r>
            <a:r>
              <a:rPr lang="es-ES" dirty="0" err="1"/>
              <a:t>Categórico:Encoding</a:t>
            </a:r>
            <a:r>
              <a:rPr lang="es-ES" dirty="0"/>
              <a:t>: Aplicación de </a:t>
            </a:r>
            <a:r>
              <a:rPr lang="es-ES" dirty="0" err="1"/>
              <a:t>OneHotEncoder</a:t>
            </a:r>
            <a:r>
              <a:rPr lang="es-ES" dirty="0"/>
              <a:t> para convertir variables de texto (</a:t>
            </a:r>
            <a:r>
              <a:rPr lang="es-ES" dirty="0" err="1"/>
              <a:t>Class</a:t>
            </a:r>
            <a:r>
              <a:rPr lang="es-ES" dirty="0"/>
              <a:t>, </a:t>
            </a:r>
            <a:r>
              <a:rPr lang="es-ES" dirty="0" err="1"/>
              <a:t>Type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Travel</a:t>
            </a:r>
            <a:r>
              <a:rPr lang="es-ES" dirty="0"/>
              <a:t>) en vectores numéricos </a:t>
            </a:r>
            <a:r>
              <a:rPr lang="es-ES" dirty="0" err="1"/>
              <a:t>procesables.Garantía</a:t>
            </a:r>
            <a:r>
              <a:rPr lang="es-ES" dirty="0"/>
              <a:t> Técnica: Eliminación de riesgos de Data </a:t>
            </a:r>
            <a:r>
              <a:rPr lang="es-ES" dirty="0" err="1"/>
              <a:t>Leakage</a:t>
            </a:r>
            <a:r>
              <a:rPr lang="es-ES" dirty="0"/>
              <a:t> al ajustar las transformaciones exclusivamente con los datos de entrenamiento.</a:t>
            </a:r>
          </a:p>
        </p:txBody>
      </p:sp>
    </p:spTree>
    <p:extLst>
      <p:ext uri="{BB962C8B-B14F-4D97-AF65-F5344CB8AC3E}">
        <p14:creationId xmlns:p14="http://schemas.microsoft.com/office/powerpoint/2010/main" val="15865063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9EAAC37-9EAF-3F24-F876-07F3721BD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Automatización y Robustez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2CAA3A7-5631-EED1-F6FD-4E9427268B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s-ES" dirty="0"/>
              <a:t>Integración Modelo-Preprocesado: El modelo </a:t>
            </a:r>
            <a:r>
              <a:rPr lang="es-ES" dirty="0" err="1"/>
              <a:t>Random</a:t>
            </a:r>
            <a:r>
              <a:rPr lang="es-ES" dirty="0"/>
              <a:t> Forest se integra directamente al final del Pipeline, creando un objeto de predicción "llave en mano".</a:t>
            </a:r>
          </a:p>
          <a:p>
            <a:r>
              <a:rPr lang="es-ES" dirty="0"/>
              <a:t>Consistencia de Datos: Asegura que los datos de Test pasen exactamente por el mismo proceso que los de Train, evitando errores de formato o dimensiones.</a:t>
            </a:r>
          </a:p>
          <a:p>
            <a:r>
              <a:rPr lang="es-ES" dirty="0"/>
              <a:t>Persistencia con </a:t>
            </a:r>
            <a:r>
              <a:rPr lang="es-ES" dirty="0" err="1"/>
              <a:t>Joblib</a:t>
            </a:r>
            <a:r>
              <a:rPr lang="es-ES" dirty="0"/>
              <a:t>: Exportación del sistema completo a un archivo binario .</a:t>
            </a:r>
            <a:r>
              <a:rPr lang="es-ES" dirty="0" err="1"/>
              <a:t>joblib</a:t>
            </a:r>
            <a:r>
              <a:rPr lang="es-ES" dirty="0"/>
              <a:t>.</a:t>
            </a:r>
          </a:p>
          <a:p>
            <a:pPr lvl="1"/>
            <a:r>
              <a:rPr lang="es-ES" dirty="0"/>
              <a:t>Permite cargar en segundos todo el conocimiento: escalas, categorías y pesos del modelo.</a:t>
            </a:r>
          </a:p>
          <a:p>
            <a:r>
              <a:rPr lang="es-ES" dirty="0"/>
              <a:t>Escalabilidad: Sistema preparado para inferencia inmediata sobre datos en bruto (Raw Data), facilitando su despliegue en entornos reales.</a:t>
            </a:r>
          </a:p>
        </p:txBody>
      </p:sp>
    </p:spTree>
    <p:extLst>
      <p:ext uri="{BB962C8B-B14F-4D97-AF65-F5344CB8AC3E}">
        <p14:creationId xmlns:p14="http://schemas.microsoft.com/office/powerpoint/2010/main" val="36371786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Modelo Baseline -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348" y="2060898"/>
            <a:ext cx="7511472" cy="1624134"/>
          </a:xfrm>
        </p:spPr>
        <p:txBody>
          <a:bodyPr/>
          <a:lstStyle/>
          <a:p>
            <a:r>
              <a:rPr lang="es-ES" dirty="0"/>
              <a:t>Se implementó una regresión logística como modelo base para establecer una referencia de desempeño. Sus métricas permiten evaluar posteriormente la mejora obtenida con modelos más complejos.</a:t>
            </a:r>
          </a:p>
          <a:p>
            <a:endParaRPr lang="es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EB20BD0B-D280-1926-13B5-EE56583127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1851" y="3429000"/>
            <a:ext cx="6011114" cy="250542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Modelo Avanzado - Random Forest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348" y="2060898"/>
            <a:ext cx="7511472" cy="1368102"/>
          </a:xfrm>
        </p:spPr>
        <p:txBody>
          <a:bodyPr/>
          <a:lstStyle/>
          <a:p>
            <a:r>
              <a:rPr lang="es-ES" dirty="0"/>
              <a:t>Se entrenó un modelo </a:t>
            </a:r>
            <a:r>
              <a:rPr lang="es-ES" dirty="0" err="1"/>
              <a:t>Random</a:t>
            </a:r>
            <a:r>
              <a:rPr lang="es-ES" dirty="0"/>
              <a:t> Forest, capaz de capturar relaciones no lineales y patrones complejos en los datos. Este enfoque mostró un desempeño superior al modelo </a:t>
            </a:r>
            <a:r>
              <a:rPr lang="es-ES" dirty="0" err="1"/>
              <a:t>baseline</a:t>
            </a:r>
            <a:r>
              <a:rPr lang="es-ES" dirty="0"/>
              <a:t>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93D85D90-5AD4-0B56-97CD-1202C1FF00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495" y="3506931"/>
            <a:ext cx="5973009" cy="24958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Optimización del Modelo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348" y="2060898"/>
            <a:ext cx="7511472" cy="1084638"/>
          </a:xfrm>
        </p:spPr>
        <p:txBody>
          <a:bodyPr/>
          <a:lstStyle/>
          <a:p>
            <a:r>
              <a:rPr lang="es-ES" dirty="0"/>
              <a:t>Se aplicó </a:t>
            </a:r>
            <a:r>
              <a:rPr lang="es-ES" dirty="0" err="1"/>
              <a:t>RandomizedSearchCV</a:t>
            </a:r>
            <a:r>
              <a:rPr lang="es-ES" dirty="0"/>
              <a:t> para identificar la mejor combinación de </a:t>
            </a:r>
            <a:r>
              <a:rPr lang="es-ES" dirty="0" err="1"/>
              <a:t>hiperparámetros</a:t>
            </a:r>
            <a:r>
              <a:rPr lang="es-ES" dirty="0"/>
              <a:t>. Mediante validación cruzada se seleccionó el modelo con mayor capacidad predictiva.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9234FF5-5A15-197A-D809-39FC796388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153" y="3429000"/>
            <a:ext cx="6039693" cy="259116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Evaluación Final</a:t>
            </a:r>
          </a:p>
        </p:txBody>
      </p:sp>
      <p:pic>
        <p:nvPicPr>
          <p:cNvPr id="7" name="Marcador de contenido 6">
            <a:extLst>
              <a:ext uri="{FF2B5EF4-FFF2-40B4-BE49-F238E27FC236}">
                <a16:creationId xmlns:a16="http://schemas.microsoft.com/office/drawing/2014/main" id="{F18DA9D7-CACF-B58D-BC34-B3C3EF667FF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27797" y="1669948"/>
            <a:ext cx="5288406" cy="459203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Feature Importance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Extracción de importancia de variables</a:t>
            </a:r>
          </a:p>
          <a:p>
            <a:pPr lvl="1"/>
            <a:r>
              <a:t>Top 15 features más influyentes</a:t>
            </a:r>
          </a:p>
          <a:p>
            <a:pPr lvl="1"/>
            <a:r>
              <a:t>Visualización mediante gráfico horizontal</a:t>
            </a:r>
          </a:p>
          <a:p>
            <a:pPr lvl="1"/>
            <a:r>
              <a:t>Interpretación del impacto en satisfacción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Análisis de Probabilidades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348" y="2060898"/>
            <a:ext cx="7511472" cy="2273358"/>
          </a:xfrm>
        </p:spPr>
        <p:txBody>
          <a:bodyPr/>
          <a:lstStyle/>
          <a:p>
            <a:pPr lvl="1"/>
            <a:r>
              <a:rPr dirty="0" err="1"/>
              <a:t>Evaluación</a:t>
            </a:r>
            <a:r>
              <a:rPr dirty="0"/>
              <a:t> de </a:t>
            </a:r>
            <a:r>
              <a:rPr dirty="0" err="1"/>
              <a:t>nivel</a:t>
            </a:r>
            <a:r>
              <a:rPr dirty="0"/>
              <a:t> de </a:t>
            </a:r>
            <a:r>
              <a:rPr dirty="0" err="1"/>
              <a:t>confianza</a:t>
            </a:r>
            <a:endParaRPr dirty="0"/>
          </a:p>
          <a:p>
            <a:pPr lvl="1"/>
            <a:r>
              <a:rPr dirty="0" err="1"/>
              <a:t>Clasificación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alta</a:t>
            </a:r>
            <a:r>
              <a:rPr dirty="0"/>
              <a:t> </a:t>
            </a:r>
            <a:r>
              <a:rPr dirty="0" err="1"/>
              <a:t>confianza</a:t>
            </a:r>
            <a:r>
              <a:rPr dirty="0"/>
              <a:t> y </a:t>
            </a:r>
            <a:r>
              <a:rPr dirty="0" err="1"/>
              <a:t>dudosas</a:t>
            </a:r>
            <a:endParaRPr dirty="0"/>
          </a:p>
          <a:p>
            <a:pPr lvl="1"/>
            <a:r>
              <a:rPr dirty="0" err="1"/>
              <a:t>Análisis</a:t>
            </a:r>
            <a:r>
              <a:rPr dirty="0"/>
              <a:t> de </a:t>
            </a:r>
            <a:r>
              <a:rPr dirty="0" err="1"/>
              <a:t>casos</a:t>
            </a:r>
            <a:r>
              <a:rPr dirty="0"/>
              <a:t> </a:t>
            </a:r>
            <a:r>
              <a:rPr dirty="0" err="1"/>
              <a:t>ambiguos</a:t>
            </a:r>
            <a:endParaRPr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1CC61ED-99BD-08BF-EBCA-154B851581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3873971"/>
            <a:ext cx="4315968" cy="2459428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FDE6CD04-3DC3-C6A9-D4F7-1C3B73DC8C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3873971"/>
            <a:ext cx="4389120" cy="245942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Random Forest supera al baseline</a:t>
            </a:r>
          </a:p>
          <a:p>
            <a:pPr lvl="1"/>
            <a:r>
              <a:t>La optimización mejora el rendimiento</a:t>
            </a:r>
          </a:p>
          <a:p>
            <a:pPr lvl="1"/>
            <a:r>
              <a:t>Variables clave influyen significativamente en satisfacción</a:t>
            </a:r>
          </a:p>
          <a:p>
            <a:pPr lvl="1"/>
            <a:r>
              <a:t>Modelo listo para integración o despliegue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alla">
  <a:themeElements>
    <a:clrScheme name="Malla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Malla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alla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TM03457485[[fn=Malla]]</Template>
  <TotalTime>110</TotalTime>
  <Words>499</Words>
  <Application>Microsoft Office PowerPoint</Application>
  <PresentationFormat>Presentación en pantalla (4:3)</PresentationFormat>
  <Paragraphs>46</Paragraphs>
  <Slides>13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6" baseType="lpstr">
      <vt:lpstr>Arial</vt:lpstr>
      <vt:lpstr>Century Gothic</vt:lpstr>
      <vt:lpstr>Malla</vt:lpstr>
      <vt:lpstr>Predicción de Satisfacción de Pasajeros en Aerolíneas</vt:lpstr>
      <vt:lpstr>Objetivo del Proyecto</vt:lpstr>
      <vt:lpstr>Carga y Exploración de Datos</vt:lpstr>
      <vt:lpstr>División del Dataset</vt:lpstr>
      <vt:lpstr>Pipeline de Procesamiento de Datos</vt:lpstr>
      <vt:lpstr>Automatización y Robustez</vt:lpstr>
      <vt:lpstr>Modelo Baseline - Logistic Regression</vt:lpstr>
      <vt:lpstr>Modelo Avanzado - Random Forest</vt:lpstr>
      <vt:lpstr>Optimización del Modelo</vt:lpstr>
      <vt:lpstr>Evaluación Final</vt:lpstr>
      <vt:lpstr>Feature Importance</vt:lpstr>
      <vt:lpstr>Análisis de Probabilidades</vt:lpstr>
      <vt:lpstr>Conclusiones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Jonatán Luzón Montaño</dc:creator>
  <cp:keywords/>
  <dc:description>generated using python-pptx</dc:description>
  <cp:lastModifiedBy>Daniel Mascarilla Del Olmo</cp:lastModifiedBy>
  <cp:revision>4</cp:revision>
  <dcterms:created xsi:type="dcterms:W3CDTF">2013-01-27T09:14:16Z</dcterms:created>
  <dcterms:modified xsi:type="dcterms:W3CDTF">2026-03-05T20:16:46Z</dcterms:modified>
  <cp:category/>
</cp:coreProperties>
</file>